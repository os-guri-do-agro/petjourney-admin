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C443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737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6E9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· PORTAL DO PARCEIRO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51560" y="210312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Clínico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51560" y="31546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D6E9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fluxo completo da clínica veterinária — da agenda à alta hospitalar.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51560" y="3840480"/>
            <a:ext cx="1371600" cy="36576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06908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Setembro de 2026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E9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 Protótipo navegável, pronto para ser aberto e usado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RESUMO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sistema para quem opera a clínica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recepção vive na agenda, o veterinário no prontuário, a enfermagem no checklist da internação. O módulo cobre os três num percurso só — e o responsável acompanha pelo celular.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2036003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6E9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185416"/>
            <a:ext cx="20360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66928" y="2615184"/>
            <a:ext cx="2036003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telas, de "Meu dia" à alta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22387" y="2103120"/>
            <a:ext cx="2036003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6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2387" y="2185416"/>
            <a:ext cx="20360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22387" y="2615184"/>
            <a:ext cx="2036003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documentos emitidos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7846" y="2103120"/>
            <a:ext cx="2036003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6E9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7846" y="2185416"/>
            <a:ext cx="20360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077846" y="2615184"/>
            <a:ext cx="2036003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leitos no mapa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33305" y="2103120"/>
            <a:ext cx="2036003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6E9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3305" y="2185416"/>
            <a:ext cx="20360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33305" y="2615184"/>
            <a:ext cx="2036003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idiomas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588764" y="2103120"/>
            <a:ext cx="2036003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6E9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8764" y="2185416"/>
            <a:ext cx="20360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588764" y="2615184"/>
            <a:ext cx="2036003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 neste módulo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3493008"/>
            <a:ext cx="3539642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A CLÍNICA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só lugar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Agenda, prontuário, receita, documentos, vacinas e internação sem planilha paralela.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26026" y="3493008"/>
            <a:ext cx="3539642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O VETERINÁRIO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Dado, não texto solto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Faixa por porte e idade, dose conferível, histórico filtrável.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85125" y="3493008"/>
            <a:ext cx="3539642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O RESPONSÁVEL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Notícia sem precisar ligar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Receita, lembrete e boletim chegam no aplicativo — com trava para a notícia grave.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5559552"/>
            <a:ext cx="11057839" cy="713232"/>
          </a:xfrm>
          <a:prstGeom prst="rect">
            <a:avLst/>
          </a:prstGeom>
          <a:solidFill>
            <a:srgbClr val="EEF4F2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5559552"/>
            <a:ext cx="50292" cy="713232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" y="5559552"/>
            <a:ext cx="11007547" cy="713232"/>
          </a:xfrm>
          <a:prstGeom prst="rect">
            <a:avLst/>
          </a:prstGeom>
          <a:noFill/>
          <a:ln/>
        </p:spPr>
        <p:txBody>
          <a:bodyPr wrap="square" lIns="139700" tIns="139700" rIns="139700" bIns="13970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Nenhuma tela saiu e nenhum caminho antigo deixou de funcionar. O que já existia continua igual, no mesmo lugar.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PERCURSO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dia inteiro da clínica, em duas faixas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mesmo paciente atravessa as duas: o identificador é um só, e o peso, a data e a clínica acompanham.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755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ATENDIMENTO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029968"/>
            <a:ext cx="1614373" cy="1280160"/>
          </a:xfrm>
          <a:prstGeom prst="roundRect">
            <a:avLst>
              <a:gd name="adj" fmla="val 5000"/>
            </a:avLst>
          </a:prstGeom>
          <a:solidFill>
            <a:srgbClr val="EEF4F2"/>
          </a:solidFill>
          <a:ln w="12700">
            <a:solidFill>
              <a:srgbClr val="456A60"/>
            </a:solidFill>
          </a:ln>
        </p:spPr>
        <p:txBody>
          <a:bodyPr wrap="square" lIns="88900" tIns="88900" rIns="88900" bIns="8890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Meu dia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espera e o que vem a seguir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81301" y="250545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55621" y="2029968"/>
            <a:ext cx="1614373" cy="1280160"/>
          </a:xfrm>
          <a:prstGeom prst="roundRect">
            <a:avLst>
              <a:gd name="adj" fmla="val 5000"/>
            </a:avLst>
          </a:prstGeom>
          <a:solidFill>
            <a:srgbClr val="EEF4F2"/>
          </a:solidFill>
          <a:ln w="12700">
            <a:solidFill>
              <a:srgbClr val="456A60"/>
            </a:solidFill>
          </a:ln>
        </p:spPr>
        <p:txBody>
          <a:bodyPr wrap="square" lIns="88900" tIns="88900" rIns="88900" bIns="8890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marcar, encaixar, remarcar arrastando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69994" y="250545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44314" y="2029968"/>
            <a:ext cx="1614373" cy="1280160"/>
          </a:xfrm>
          <a:prstGeom prst="roundRect">
            <a:avLst>
              <a:gd name="adj" fmla="val 5000"/>
            </a:avLst>
          </a:prstGeom>
          <a:solidFill>
            <a:srgbClr val="EEF4F2"/>
          </a:solidFill>
          <a:ln w="12700">
            <a:solidFill>
              <a:srgbClr val="456A60"/>
            </a:solidFill>
          </a:ln>
        </p:spPr>
        <p:txBody>
          <a:bodyPr wrap="square" lIns="88900" tIns="88900" rIns="88900" bIns="8890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Fila de espera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posição, oferta de vaga e prazo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58688" y="250545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33008" y="2029968"/>
            <a:ext cx="1614373" cy="1280160"/>
          </a:xfrm>
          <a:prstGeom prst="roundRect">
            <a:avLst>
              <a:gd name="adj" fmla="val 5000"/>
            </a:avLst>
          </a:prstGeom>
          <a:solidFill>
            <a:srgbClr val="EEF4F2"/>
          </a:solidFill>
          <a:ln w="12700">
            <a:solidFill>
              <a:srgbClr val="456A60"/>
            </a:solidFill>
          </a:ln>
        </p:spPr>
        <p:txBody>
          <a:bodyPr wrap="square" lIns="88900" tIns="88900" rIns="88900" bIns="8890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Prontuário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cinco etapas, da anamnese ao fecho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47381" y="250545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1701" y="2029968"/>
            <a:ext cx="1614373" cy="1280160"/>
          </a:xfrm>
          <a:prstGeom prst="roundRect">
            <a:avLst>
              <a:gd name="adj" fmla="val 5000"/>
            </a:avLst>
          </a:prstGeom>
          <a:solidFill>
            <a:srgbClr val="EEF4F2"/>
          </a:solidFill>
          <a:ln w="12700">
            <a:solidFill>
              <a:srgbClr val="456A60"/>
            </a:solidFill>
          </a:ln>
        </p:spPr>
        <p:txBody>
          <a:bodyPr wrap="square" lIns="88900" tIns="88900" rIns="88900" bIns="8890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Receita e documentos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assinados e entregues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736074" y="250545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10394" y="2029968"/>
            <a:ext cx="1614373" cy="1280160"/>
          </a:xfrm>
          <a:prstGeom prst="roundRect">
            <a:avLst>
              <a:gd name="adj" fmla="val 5000"/>
            </a:avLst>
          </a:prstGeom>
          <a:solidFill>
            <a:srgbClr val="EEF4F2"/>
          </a:solidFill>
          <a:ln w="12700">
            <a:solidFill>
              <a:srgbClr val="456A60"/>
            </a:solidFill>
          </a:ln>
        </p:spPr>
        <p:txBody>
          <a:bodyPr wrap="square" lIns="88900" tIns="88900" rIns="88900" bIns="8890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Retorno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cai na agenda e fecha o ciclo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7673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INTERNAÇÃO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4041648"/>
            <a:ext cx="1614373" cy="1280160"/>
          </a:xfrm>
          <a:prstGeom prst="roundRect">
            <a:avLst>
              <a:gd name="adj" fmla="val 5000"/>
            </a:avLst>
          </a:prstGeom>
          <a:solidFill>
            <a:srgbClr val="FBF3E2"/>
          </a:solidFill>
          <a:ln w="12700">
            <a:solidFill>
              <a:srgbClr val="8A6D1F"/>
            </a:solidFill>
          </a:ln>
        </p:spPr>
        <p:txBody>
          <a:bodyPr wrap="square" lIns="88900" tIns="88900" rIns="88900" bIns="8890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de leitos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onde há vaga e o que cobra ação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81301" y="45171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455621" y="4041648"/>
            <a:ext cx="1614373" cy="1280160"/>
          </a:xfrm>
          <a:prstGeom prst="roundRect">
            <a:avLst>
              <a:gd name="adj" fmla="val 5000"/>
            </a:avLst>
          </a:prstGeom>
          <a:solidFill>
            <a:srgbClr val="FBF3E2"/>
          </a:solidFill>
          <a:ln w="12700">
            <a:solidFill>
              <a:srgbClr val="8A6D1F"/>
            </a:solidFill>
          </a:ln>
        </p:spPr>
        <p:txBody>
          <a:bodyPr wrap="square" lIns="88900" tIns="88900" rIns="88900" bIns="8890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Prescrição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horários já materializados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69994" y="45171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44314" y="4041648"/>
            <a:ext cx="1614373" cy="1280160"/>
          </a:xfrm>
          <a:prstGeom prst="roundRect">
            <a:avLst>
              <a:gd name="adj" fmla="val 5000"/>
            </a:avLst>
          </a:prstGeom>
          <a:solidFill>
            <a:srgbClr val="FBF3E2"/>
          </a:solidFill>
          <a:ln w="12700">
            <a:solidFill>
              <a:srgbClr val="8A6D1F"/>
            </a:solidFill>
          </a:ln>
        </p:spPr>
        <p:txBody>
          <a:bodyPr wrap="square" lIns="88900" tIns="88900" rIns="88900" bIns="8890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Checklist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deu e a que horas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58688" y="45171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33008" y="4041648"/>
            <a:ext cx="1614373" cy="1280160"/>
          </a:xfrm>
          <a:prstGeom prst="roundRect">
            <a:avLst>
              <a:gd name="adj" fmla="val 5000"/>
            </a:avLst>
          </a:prstGeom>
          <a:solidFill>
            <a:srgbClr val="FBF3E2"/>
          </a:solidFill>
          <a:ln w="12700">
            <a:solidFill>
              <a:srgbClr val="8A6D1F"/>
            </a:solidFill>
          </a:ln>
        </p:spPr>
        <p:txBody>
          <a:bodyPr wrap="square" lIns="88900" tIns="88900" rIns="88900" bIns="8890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Evolução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passagem com pendência congelada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847381" y="45171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21701" y="4041648"/>
            <a:ext cx="1614373" cy="1280160"/>
          </a:xfrm>
          <a:prstGeom prst="roundRect">
            <a:avLst>
              <a:gd name="adj" fmla="val 5000"/>
            </a:avLst>
          </a:prstGeom>
          <a:solidFill>
            <a:srgbClr val="FBF3E2"/>
          </a:solidFill>
          <a:ln w="12700">
            <a:solidFill>
              <a:srgbClr val="8A6D1F"/>
            </a:solidFill>
          </a:ln>
        </p:spPr>
        <p:txBody>
          <a:bodyPr wrap="square" lIns="88900" tIns="88900" rIns="88900" bIns="8890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Boletim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responsável acompanha pelo celular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36074" y="45171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010394" y="4041648"/>
            <a:ext cx="1614373" cy="1280160"/>
          </a:xfrm>
          <a:prstGeom prst="roundRect">
            <a:avLst>
              <a:gd name="adj" fmla="val 5000"/>
            </a:avLst>
          </a:prstGeom>
          <a:solidFill>
            <a:srgbClr val="FBF3E2"/>
          </a:solidFill>
          <a:ln w="12700">
            <a:solidFill>
              <a:srgbClr val="8A6D1F"/>
            </a:solidFill>
          </a:ln>
        </p:spPr>
        <p:txBody>
          <a:bodyPr wrap="square" lIns="88900" tIns="88900" rIns="88900" bIns="8890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Alta</a:t>
            </a:r>
            <a:endParaRPr lang="en-US" sz="10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desfechos, e o leito volta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559552"/>
            <a:ext cx="11057839" cy="713232"/>
          </a:xfrm>
          <a:prstGeom prst="rect">
            <a:avLst/>
          </a:prstGeom>
          <a:solidFill>
            <a:srgbClr val="EEF4F2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928" y="5559552"/>
            <a:ext cx="50292" cy="713232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" y="5559552"/>
            <a:ext cx="11007547" cy="713232"/>
          </a:xfrm>
          <a:prstGeom prst="rect">
            <a:avLst/>
          </a:prstGeom>
          <a:noFill/>
          <a:ln/>
        </p:spPr>
        <p:txBody>
          <a:bodyPr wrap="square" lIns="139700" tIns="139700" rIns="139700" bIns="13970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Fora das duas faixas, sempre à mão: pacientes, histórico, bulário, vacinas, faltas e o resumo — alcançáveis de qualquer tela por Ctrl + 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C443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D6E9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51560" y="2706624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dia começa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51560" y="3584448"/>
            <a:ext cx="1371600" cy="32004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78561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E9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Onde está o trabalho, e como se chega a um paciente sem adivinhar em qual lista ele está.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módulo diz onde está o trabalho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Veio de uma reclamação direta: o fluxo estava confuso. Não faltava tela nem sobrava tela — faltava chave de leitura.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755648"/>
            <a:ext cx="2599868" cy="1700784"/>
          </a:xfrm>
          <a:prstGeom prst="roundRect">
            <a:avLst>
              <a:gd name="adj" fmla="val 3763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1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Agora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Meu dia · Agenda · Fila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acontece neste minuto, e onde cabe mais alguém.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6252" y="1755648"/>
            <a:ext cx="2599868" cy="1700784"/>
          </a:xfrm>
          <a:prstGeom prst="roundRect">
            <a:avLst>
              <a:gd name="adj" fmla="val 3763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2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curso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Prontuários · Internação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trabalho aberto que atravessa o dia.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05576" y="1755648"/>
            <a:ext cx="2599868" cy="1700784"/>
          </a:xfrm>
          <a:prstGeom prst="roundRect">
            <a:avLst>
              <a:gd name="adj" fmla="val 3763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3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Pendências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Atividades · Faltas · Vacinas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ficou para trás e envelhece calado.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024899" y="1755648"/>
            <a:ext cx="2599868" cy="1700784"/>
          </a:xfrm>
          <a:prstGeom prst="roundRect">
            <a:avLst>
              <a:gd name="adj" fmla="val 3763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4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só faz sentido depois que o dia acabou.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913632"/>
            <a:ext cx="3539642" cy="1353312"/>
          </a:xfrm>
          <a:prstGeom prst="roundRect">
            <a:avLst>
              <a:gd name="adj" fmla="val 4730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Contadores de pendência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 o que alguém precisa fazer: "38 atendimentos hoje" é rotina, "2 doses atrasadas" é pendência.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26026" y="3913632"/>
            <a:ext cx="3539642" cy="1353312"/>
          </a:xfrm>
          <a:prstGeom prst="roundRect">
            <a:avLst>
              <a:gd name="adj" fmla="val 4730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em Ctrl + K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Nome do animal, de quem responde por ele, telefone, ou o nome da tela. A resposta é o destino.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85125" y="3913632"/>
            <a:ext cx="3539642" cy="1353312"/>
          </a:xfrm>
          <a:prstGeom prst="roundRect">
            <a:avLst>
              <a:gd name="adj" fmla="val 4730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internação saiu do canto dela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"Meu dia" traz os internados que cobram ação, e o boletim preso vira botão no topo.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5559552"/>
            <a:ext cx="11057839" cy="713232"/>
          </a:xfrm>
          <a:prstGeom prst="rect">
            <a:avLst/>
          </a:prstGeom>
          <a:solidFill>
            <a:srgbClr val="EEF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5559552"/>
            <a:ext cx="50292" cy="713232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" y="5559552"/>
            <a:ext cx="11007547" cy="713232"/>
          </a:xfrm>
          <a:prstGeom prst="rect">
            <a:avLst/>
          </a:prstGeom>
          <a:noFill/>
          <a:ln/>
        </p:spPr>
        <p:txBody>
          <a:bodyPr wrap="square" lIns="139700" tIns="139700" rIns="139700" bIns="13970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Nada saiu da lista: os destinos continuam os mesmos, com os mesmos nomes e as mesmas rotas. Ela só deixou de exigir leitura inteira.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tela onde a recepção vive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ela que decide se a clínica troca de sistema. Se for pior que a atual, nada mais importa.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755648"/>
            <a:ext cx="619239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 e semana,</a:t>
            </a:r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 colunas por profissional ou por sala.</a:t>
            </a:r>
            <a:endParaRPr lang="en-US" sz="1150" dirty="0"/>
          </a:p>
          <a:p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Encaixe, bloqueio e recorrência:</a:t>
            </a:r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almoço, reunião, férias, feriado.</a:t>
            </a:r>
            <a:endParaRPr lang="en-US" sz="1150" dirty="0"/>
          </a:p>
          <a:p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Remarcar arrastando,</a:t>
            </a:r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 confirmação que mostra de → para e o texto que sai.</a:t>
            </a:r>
            <a:endParaRPr lang="en-US" sz="1150" dirty="0"/>
          </a:p>
          <a:p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Desfazer em 8 segundos</a:t>
            </a:r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arrastar nunca salva sozinho.</a:t>
            </a:r>
            <a:endParaRPr lang="en-US" sz="1150" dirty="0"/>
          </a:p>
          <a:p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Legenda por tipo:</a:t>
            </a:r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cor, ícone e nome — e ela é o filtro da grade.</a:t>
            </a:r>
            <a:endParaRPr lang="en-US" sz="1150" dirty="0"/>
          </a:p>
          <a:p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 da semana</a:t>
            </a:r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 profissional e por período.</a:t>
            </a:r>
            <a:endParaRPr lang="en-US" sz="1150" dirty="0"/>
          </a:p>
          <a:p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Atalhos de teclado</a:t>
            </a:r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o estado da visão na URL.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201632" y="1755648"/>
            <a:ext cx="4423136" cy="1673352"/>
          </a:xfrm>
          <a:prstGeom prst="roundRect">
            <a:avLst>
              <a:gd name="adj" fmla="val 3825"/>
            </a:avLst>
          </a:prstGeom>
          <a:solidFill>
            <a:srgbClr val="FBF3E2"/>
          </a:solidFill>
          <a:ln w="12700">
            <a:solidFill>
              <a:srgbClr val="E6D4A8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DECISÃO QUE REGE A TELA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Nada bloqueia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Sobreposição, sala ocupada e dia fechado avisam, e seguem agendáveis. Regra que proíbe vira regra contornada no papel — e aí o sistema perde o registro do que aconteceu.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01632" y="3648456"/>
            <a:ext cx="4423136" cy="1673352"/>
          </a:xfrm>
          <a:prstGeom prst="roundRect">
            <a:avLst>
              <a:gd name="adj" fmla="val 3825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CONFLITOS DETECTADOS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Quatro, sempre por escrito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Sobreposição de profissional, sala ocupada, invasão de bloqueio e fora do expediente — durante o arraste e no diálogo.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5559552"/>
            <a:ext cx="11057839" cy="713232"/>
          </a:xfrm>
          <a:prstGeom prst="rect">
            <a:avLst/>
          </a:prstGeom>
          <a:solidFill>
            <a:srgbClr val="EEF4F2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5559552"/>
            <a:ext cx="50292" cy="713232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" y="5559552"/>
            <a:ext cx="11007547" cy="713232"/>
          </a:xfrm>
          <a:prstGeom prst="rect">
            <a:avLst/>
          </a:prstGeom>
          <a:noFill/>
          <a:ln/>
        </p:spPr>
        <p:txBody>
          <a:bodyPr wrap="square" lIns="139700" tIns="139700" rIns="139700" bIns="13970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dia de demonstração tem 40 atendimentos, 5 veterinários e 24 pacientes com histórico — sempre os mesmos, porque o conjunto de dados é determinístico.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falta vira uma ligação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Marcar falta antes só mudava um status. Agora três coisas acontecem juntas, no mesmo gesto.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755648"/>
            <a:ext cx="3539642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PASSO 1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Marcar falta no próprio card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clique, e só para quem já devia ter chegado. O rótulo é comando, não substantivo.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26026" y="1755648"/>
            <a:ext cx="3539642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PASSO 2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reagendamento abre junto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Paciente, tipo e profissional preenchidos, horários já buscados e o telefone clicável.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85125" y="1755648"/>
            <a:ext cx="3539642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PASSO 3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fila é consultada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horário que vagou é ofertado a quem espera, com posição, prazo e mensagem em prévia.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3739896"/>
            <a:ext cx="5419192" cy="1353312"/>
          </a:xfrm>
          <a:prstGeom prst="roundRect">
            <a:avLst>
              <a:gd name="adj" fmla="val 4730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Histórico de faltas do responsável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falta com data, tipo, minutos perdidos e se houve retorno depois. Três faltas em três anos não é três faltas no mês — e quem já remarcou não recebe convite de novo.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05576" y="3739896"/>
            <a:ext cx="5419192" cy="1353312"/>
          </a:xfrm>
          <a:prstGeom prst="roundRect">
            <a:avLst>
              <a:gd name="adj" fmla="val 4730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Comprovante de tudo que saiu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Remarcação, cancelamento, reagendamento e oferta de vaga deixam registro com data. Numa tela onde errar liga para a pessoa errada, o comprovante é parte do fluxo.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5559552"/>
            <a:ext cx="11057839" cy="713232"/>
          </a:xfrm>
          <a:prstGeom prst="rect">
            <a:avLst/>
          </a:prstGeom>
          <a:solidFill>
            <a:srgbClr val="EE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5559552"/>
            <a:ext cx="50292" cy="713232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" y="5559552"/>
            <a:ext cx="11007547" cy="713232"/>
          </a:xfrm>
          <a:prstGeom prst="rect">
            <a:avLst/>
          </a:prstGeom>
          <a:noFill/>
          <a:ln/>
        </p:spPr>
        <p:txBody>
          <a:bodyPr wrap="square" lIns="139700" tIns="139700" rIns="139700" bIns="13970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"Falta é dinheiro perdido. Aqui ela vira uma ligação, não uma linha num relatório."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C443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D6E9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51560" y="2706624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atendimento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51560" y="3584448"/>
            <a:ext cx="1371600" cy="32004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78561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E9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Onde o veterinário passa o tempo dele — e a decisão mais importante do produto.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PRONTUÁRIO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Cinco etapas, uma consulta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Campo estruturado hoje é o que permite score de risco e integração com laboratório amanhã. Texto livre é confortável de programar e inútil depois.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938528"/>
            <a:ext cx="2021373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Anamnese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Queixa, duração, evolução e antecedentes. Trechos prontos por "/".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94734" y="1755648"/>
            <a:ext cx="365760" cy="365760"/>
          </a:xfrm>
          <a:prstGeom prst="ellipse">
            <a:avLst/>
          </a:prstGeom>
          <a:solidFill>
            <a:srgbClr val="456A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94734" y="18059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88301" y="253746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26045" y="1938528"/>
            <a:ext cx="2021373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Exame físico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Oito sistemas, vitais com faixa, mucosas e hidratação.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3851" y="1755648"/>
            <a:ext cx="365760" cy="365760"/>
          </a:xfrm>
          <a:prstGeom prst="ellipse">
            <a:avLst/>
          </a:prstGeom>
          <a:solidFill>
            <a:srgbClr val="456A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3851" y="18059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7417" y="253746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85161" y="1938528"/>
            <a:ext cx="2021373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por código. Presuntivo, definitivo e diferencial.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12968" y="1755648"/>
            <a:ext cx="365760" cy="365760"/>
          </a:xfrm>
          <a:prstGeom prst="ellipse">
            <a:avLst/>
          </a:prstGeom>
          <a:solidFill>
            <a:srgbClr val="456A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12968" y="18059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06534" y="253746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44278" y="1938528"/>
            <a:ext cx="2021373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Conduta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Orientações, prescrição pelo bulário, exames e retorno.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72084" y="1755648"/>
            <a:ext cx="365760" cy="365760"/>
          </a:xfrm>
          <a:prstGeom prst="ellipse">
            <a:avLst/>
          </a:prstGeom>
          <a:solidFill>
            <a:srgbClr val="456A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2084" y="18059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65651" y="2537460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3395" y="1938528"/>
            <a:ext cx="2021373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documentos que este atendimento pede, e o fecho.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431201" y="1755648"/>
            <a:ext cx="365760" cy="365760"/>
          </a:xfrm>
          <a:prstGeom prst="ellipse">
            <a:avLst/>
          </a:prstGeom>
          <a:solidFill>
            <a:srgbClr val="456A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31201" y="18059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3922776"/>
            <a:ext cx="3539642" cy="1353312"/>
          </a:xfrm>
          <a:prstGeom prst="roundRect">
            <a:avLst>
              <a:gd name="adj" fmla="val 4730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Autosave e rascunho local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atendimento interrompido volta como oferta de retomada, nunca como sobrescrita.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26026" y="3922776"/>
            <a:ext cx="3539642" cy="1353312"/>
          </a:xfrm>
          <a:prstGeom prst="roundRect">
            <a:avLst>
              <a:gd name="adj" fmla="val 4730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dispositivo edita por vez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segundo entra em leitura, e a transferência é explícita.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85125" y="3922776"/>
            <a:ext cx="3539642" cy="1353312"/>
          </a:xfrm>
          <a:prstGeom prst="roundRect">
            <a:avLst>
              <a:gd name="adj" fmla="val 4730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Finalizado não se edita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tela vira somente leitura e devolve à agenda. Registro fechado se lê.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PRONTUÁRIO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ele faz e um bloco de notas não faz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Seis coisas que separam um registro consultável de um campo de texto com data.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755648"/>
            <a:ext cx="3539642" cy="1673352"/>
          </a:xfrm>
          <a:prstGeom prst="roundRect">
            <a:avLst>
              <a:gd name="adj" fmla="val 3825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JULGA CERTO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Faixa por espécie, porte e idade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cão de 3 kg tem frequência cardíaca acima de um de 60 kg. Faixa única marcaria como "fora" o que é normal — e ensinaria o vet a ignorar o destaque.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26026" y="1755648"/>
            <a:ext cx="3539642" cy="1673352"/>
          </a:xfrm>
          <a:prstGeom prst="roundRect">
            <a:avLst>
              <a:gd name="adj" fmla="val 3825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NUNCA SÓ COR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Fora da faixa em três canais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Seta de direção, a palavra ("acima", "abaixo") e a faixa esperada ao lado. Filete colorido não sobrevive à leitura por voz.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85125" y="1755648"/>
            <a:ext cx="3539642" cy="1673352"/>
          </a:xfrm>
          <a:prstGeom prst="roundRect">
            <a:avLst>
              <a:gd name="adj" fmla="val 3825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SILÊNCIO É DADO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"Não aferido" não é vazio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Distingue quem decidiu não medir de ninguém ter preenchido. E faixa ausente não vira faixa inventada.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3648456"/>
            <a:ext cx="3539642" cy="1673352"/>
          </a:xfrm>
          <a:prstGeom prst="roundRect">
            <a:avLst>
              <a:gd name="adj" fmla="val 3825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ELO COM O APLICATIVO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pré-consulta do responsável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a pessoa respondeu em casa entra como sugestão, só onde está vazio. Nada entra sozinho, e a procedência fica marcada.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26026" y="3648456"/>
            <a:ext cx="3539642" cy="1673352"/>
          </a:xfrm>
          <a:prstGeom prst="roundRect">
            <a:avLst>
              <a:gd name="adj" fmla="val 3825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VELOCIDADE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consulta inteira sem mouse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avança campo e muda de etapa, número escolhe a opção, o foco vai sozinho ao primeiro campo. Com o mapa de teclas à vista.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85125" y="3648456"/>
            <a:ext cx="3539642" cy="1673352"/>
          </a:xfrm>
          <a:prstGeom prst="roundRect">
            <a:avLst>
              <a:gd name="adj" fmla="val 3825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ENTRAR NA SALA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Linha do tempo com filtro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Consultas, vacinas, exames, cirurgias, prescrições, faltas e internações — filtráveis por tipo.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5559552"/>
            <a:ext cx="11057839" cy="713232"/>
          </a:xfrm>
          <a:prstGeom prst="rect">
            <a:avLst/>
          </a:prstGeom>
          <a:solidFill>
            <a:srgbClr val="EEF4F2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5559552"/>
            <a:ext cx="50292" cy="713232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" y="5559552"/>
            <a:ext cx="11007547" cy="713232"/>
          </a:xfrm>
          <a:prstGeom prst="rect">
            <a:avLst/>
          </a:prstGeom>
          <a:noFill/>
          <a:ln/>
        </p:spPr>
        <p:txBody>
          <a:bodyPr wrap="square" lIns="139700" tIns="139700" rIns="139700" bIns="13970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regra que atravessa tudo: estruturado primeiro, texto livre ao lado — nunca no lugar. Quem quer escrever solto continua escrevendo, e o dado continua consultável.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RECEITUÁRIO DIGITAL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conta aberta, e a instrução em português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receita é o artefato que mais circula entre clínica, responsável e farmácia.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755648"/>
            <a:ext cx="5419192" cy="1353312"/>
          </a:xfrm>
          <a:prstGeom prst="roundRect">
            <a:avLst>
              <a:gd name="adj" fmla="val 4730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O VETERINÁRIO CONFERIR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12,4 kg × 10 mg/kg = 124 mg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passos numerados. Número pronto num campo não se confere.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05576" y="1755648"/>
            <a:ext cx="5419192" cy="1353312"/>
          </a:xfrm>
          <a:prstGeom prst="roundRect">
            <a:avLst>
              <a:gd name="adj" fmla="val 4730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O RESPONSÁVEL EXECUTAR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"Meio comprimido, de 12 em 12 h"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Fração em palavra. Quando não cai numa fração partível, a tela avisa.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3566160"/>
            <a:ext cx="530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Bulário ao lado do campo,</a:t>
            </a:r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 classe, cuidados e dose por espécie.</a:t>
            </a:r>
            <a:endParaRPr lang="en-US" sz="1150" dirty="0"/>
          </a:p>
          <a:p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Alergia ao princípio ativo</a:t>
            </a:r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exige confirmação explícita. Avisa, não impede.</a:t>
            </a:r>
            <a:endParaRPr lang="en-US" sz="1150" dirty="0"/>
          </a:p>
          <a:p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 sem peso não calcula às cegas.</a:t>
            </a:r>
            <a:endParaRPr lang="en-US" sz="1150" dirty="0"/>
          </a:p>
          <a:p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contínuo é a ausência de fim,</a:t>
            </a:r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não 365 dias.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24448" y="3566160"/>
            <a:ext cx="530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Assinar congela:</a:t>
            </a:r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receita é cópia da conduta naquele instante.</a:t>
            </a:r>
            <a:endParaRPr lang="en-US" sz="1150" dirty="0"/>
          </a:p>
          <a:p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código não usa "I" nem "O"</a:t>
            </a:r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ele é ditado ao telefone.</a:t>
            </a:r>
            <a:endParaRPr lang="en-US" sz="1150" dirty="0"/>
          </a:p>
          <a:p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 especial</a:t>
            </a:r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em folha separada, 1ª e 2ª via.</a:t>
            </a:r>
            <a:endParaRPr lang="en-US" sz="1150" dirty="0"/>
          </a:p>
          <a:p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Repetir a receita anterior</a:t>
            </a:r>
            <a:pPr algn="l" indent="0" marL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em um toque.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5559552"/>
            <a:ext cx="11057839" cy="713232"/>
          </a:xfrm>
          <a:prstGeom prst="rect">
            <a:avLst/>
          </a:prstGeom>
          <a:solidFill>
            <a:srgbClr val="EE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5559552"/>
            <a:ext cx="50292" cy="713232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" y="5559552"/>
            <a:ext cx="11007547" cy="713232"/>
          </a:xfrm>
          <a:prstGeom prst="rect">
            <a:avLst/>
          </a:prstGeom>
          <a:noFill/>
          <a:ln/>
        </p:spPr>
        <p:txBody>
          <a:bodyPr wrap="square" lIns="139700" tIns="139700" rIns="139700" bIns="13970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Enviar ao responsável fica registrado com data, e o painel mostra ao vet exatamente o que a pessoa vai ler — incluindo o lembrete que nasce da posologia.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DOCUMENTOS E VACINAS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sai da consulta em papel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Quinze documentos, mas a tela só oferece os três ou quatro que este atendimento pede.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755648"/>
            <a:ext cx="3539642" cy="1911096"/>
          </a:xfrm>
          <a:prstGeom prst="roundRect">
            <a:avLst>
              <a:gd name="adj" fmla="val 3349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FAMÍLIA 1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Recortes do prontuário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Prontuário, receituário, pedido de exame, orientações, encaminhamento, relatório de plano.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afirmam nada novo: reorganizam o que já está registrado.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26026" y="1755648"/>
            <a:ext cx="3539642" cy="1911096"/>
          </a:xfrm>
          <a:prstGeom prst="roundRect">
            <a:avLst>
              <a:gd name="adj" fmla="val 3349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FAMÍLIA 2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Declarações do profissional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Atestado de saúde, de comparecimento e de viagem; declaração de óbito; comprovante de vacinação.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Assinatura só do profissional.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85125" y="1755648"/>
            <a:ext cx="3539642" cy="1911096"/>
          </a:xfrm>
          <a:prstGeom prst="roundRect">
            <a:avLst>
              <a:gd name="adj" fmla="val 3349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FAMÍLIA 3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Termos do responsável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Consentimento, recusa e eutanásia — mais o orçamento, no administrativo.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Duas assinaturas, e a do responsável é a que vale.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4123944"/>
            <a:ext cx="5419192" cy="1197864"/>
          </a:xfrm>
          <a:prstGeom prst="roundRect">
            <a:avLst>
              <a:gd name="adj" fmla="val 5344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Vacinação com o ciclo fechado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registro guarda lote, fabricante, validade e dose da série — e o comprovante sai preenchido.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05576" y="4123944"/>
            <a:ext cx="5419192" cy="1197864"/>
          </a:xfrm>
          <a:prstGeom prst="roundRect">
            <a:avLst>
              <a:gd name="adj" fmla="val 5344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de chamada de reforço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está vencido ou a vencer tem tela própria, e o número sobe como pendência no menu.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5559552"/>
            <a:ext cx="11057839" cy="713232"/>
          </a:xfrm>
          <a:prstGeom prst="rect">
            <a:avLst/>
          </a:prstGeom>
          <a:solidFill>
            <a:srgbClr val="EE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5559552"/>
            <a:ext cx="50292" cy="713232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" y="5559552"/>
            <a:ext cx="11007547" cy="713232"/>
          </a:xfrm>
          <a:prstGeom prst="rect">
            <a:avLst/>
          </a:prstGeom>
          <a:noFill/>
          <a:ln/>
        </p:spPr>
        <p:txBody>
          <a:bodyPr wrap="square" lIns="139700" tIns="139700" rIns="139700" bIns="13970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Tudo sai em folha A4, impresso pelo navegador — sem depender de nada instalado na recepção.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C443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D6E9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3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51560" y="2706624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internação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51560" y="3584448"/>
            <a:ext cx="1371600" cy="32004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78561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E9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bloco inteiro que não existia — e o diferencial que nenhum concorrente entrega.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mapa de leitos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Oito leitos: três gerais, dois felinos, uma UTI e dois de isolamento — um deles parado para manutenção, com o motivo escrito.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755648"/>
            <a:ext cx="3539642" cy="1641348"/>
          </a:xfrm>
          <a:prstGeom prst="roundRect">
            <a:avLst>
              <a:gd name="adj" fmla="val 3900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leito vazio ocupa espaço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"Onde ponho o próximo" é metade da pergunta que a clínica faz o dia inteiro. Vaga que não aparece é vaga que a clínica não sabe que tem.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26026" y="1755648"/>
            <a:ext cx="3539642" cy="1641348"/>
          </a:xfrm>
          <a:prstGeom prst="roundRect">
            <a:avLst>
              <a:gd name="adj" fmla="val 3900"/>
            </a:avLst>
          </a:prstGeom>
          <a:solidFill>
            <a:srgbClr val="FBF3E2"/>
          </a:solidFill>
          <a:ln w="12700">
            <a:solidFill>
              <a:srgbClr val="E6D4A8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Urgência, não gravidade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crítico com tudo em dia não precisa piscar; um estável com duas doses atrasadas precisa. Por gravidade, o mapa ficaria vermelho onde nada há para fazer.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85125" y="1755648"/>
            <a:ext cx="3539642" cy="1641348"/>
          </a:xfrm>
          <a:prstGeom prst="roundRect">
            <a:avLst>
              <a:gd name="adj" fmla="val 3900"/>
            </a:avLst>
          </a:prstGeom>
          <a:solidFill>
            <a:srgbClr val="FBEEE8"/>
          </a:solidFill>
          <a:ln w="12700">
            <a:solidFill>
              <a:srgbClr val="EBCFC6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A25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boletim preso tem dono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Selo no cartão do paciente, com ícone de telefone e não de alerta: o que se pede ali não é atenção, é uma ligação.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3854196"/>
            <a:ext cx="5419192" cy="1467612"/>
          </a:xfrm>
          <a:prstGeom prst="roundRect">
            <a:avLst>
              <a:gd name="adj" fmla="val 4361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CADASTRO DE LEITOS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Quantos leitos a clínica tem é resposta dela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Cadastra, renomeia, tira de operação com motivo e devolve. O número muda quando a clínica cresce — então leito é dado editável, não constante de código.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05576" y="3854196"/>
            <a:ext cx="5419192" cy="1467612"/>
          </a:xfrm>
          <a:prstGeom prst="roundRect">
            <a:avLst>
              <a:gd name="adj" fmla="val 4361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DUAS RECUSAS QUE A TELA EXPLICA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Leito ocupado não sai de operação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a tela diz por quê, em texto — não com um botão apagado, que se lê como defeito. Leito que já recebeu paciente nunca se apaga.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5559552"/>
            <a:ext cx="11057839" cy="713232"/>
          </a:xfrm>
          <a:prstGeom prst="rect">
            <a:avLst/>
          </a:prstGeom>
          <a:solidFill>
            <a:srgbClr val="EE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5559552"/>
            <a:ext cx="50292" cy="713232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" y="5559552"/>
            <a:ext cx="11007547" cy="713232"/>
          </a:xfrm>
          <a:prstGeom prst="rect">
            <a:avLst/>
          </a:prstGeom>
          <a:noFill/>
          <a:ln/>
        </p:spPr>
        <p:txBody>
          <a:bodyPr wrap="square" lIns="139700" tIns="139700" rIns="139700" bIns="13970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Internação não é agendamento. Agendamento tem começo e fim na grade; internação tem entrada e uma alta que ninguém sabe quando será.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turno, hora a hora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Quatro abas de trabalho no paciente internado — e a passagem de plantão que entrega o que ficou.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755648"/>
            <a:ext cx="2599868" cy="1641348"/>
          </a:xfrm>
          <a:prstGeom prst="roundRect">
            <a:avLst>
              <a:gd name="adj" fmla="val 3900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ABA 1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Prescrição por horário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Horários já materializados: quem executou precisa de uma linha para morar.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6252" y="1755648"/>
            <a:ext cx="2599868" cy="1641348"/>
          </a:xfrm>
          <a:prstGeom prst="roundRect">
            <a:avLst>
              <a:gd name="adj" fmla="val 3900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ABA 2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Checklist de enfermagem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Agrupado por hora, com a linha do "agora". Guarda quem deu e a que horas.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05576" y="1755648"/>
            <a:ext cx="2599868" cy="1641348"/>
          </a:xfrm>
          <a:prstGeom prst="roundRect">
            <a:avLst>
              <a:gd name="adj" fmla="val 3900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ABA 3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Evolução por plantão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por paciente e por turno, com os vitais do turno anterior à vista.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024899" y="1755648"/>
            <a:ext cx="2599868" cy="1641348"/>
          </a:xfrm>
          <a:prstGeom prst="roundRect">
            <a:avLst>
              <a:gd name="adj" fmla="val 3900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ABA 4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Boletim ao responsável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conversa do celular ao lado da tela, para ver o que a pessoa vai ler.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854196"/>
            <a:ext cx="3539642" cy="1467612"/>
          </a:xfrm>
          <a:prstGeom prst="roundRect">
            <a:avLst>
              <a:gd name="adj" fmla="val 4361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"Recusada" não é "pulada"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gato que cospe o comprimido é informação clínica que faz o vet trocar a via — não um esquecimento da enfermagem.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26026" y="3854196"/>
            <a:ext cx="3539642" cy="1467612"/>
          </a:xfrm>
          <a:prstGeom prst="roundRect">
            <a:avLst>
              <a:gd name="adj" fmla="val 4361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Atraso é lido, nunca gravado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dose marcada como atrasada às 14h continuaria atrasada depois de dada às 14h10. Tolerância de 30 minutos.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85125" y="3854196"/>
            <a:ext cx="3539642" cy="1467612"/>
          </a:xfrm>
          <a:prstGeom prst="roundRect">
            <a:avLst>
              <a:gd name="adj" fmla="val 4361"/>
            </a:avLst>
          </a:prstGeom>
          <a:solidFill>
            <a:srgbClr val="FBF3E2"/>
          </a:solidFill>
          <a:ln w="12700">
            <a:solidFill>
              <a:srgbClr val="E6D4A8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dose em cima da troca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nomeada e trava a entrega do turno. Quem sai acha que quem entra vai dar, quem entra acha que já foi dada, e ela some.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5559552"/>
            <a:ext cx="11057839" cy="713232"/>
          </a:xfrm>
          <a:prstGeom prst="rect">
            <a:avLst/>
          </a:prstGeom>
          <a:solidFill>
            <a:srgbClr val="EEF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5559552"/>
            <a:ext cx="50292" cy="713232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" y="5559552"/>
            <a:ext cx="11007547" cy="713232"/>
          </a:xfrm>
          <a:prstGeom prst="rect">
            <a:avLst/>
          </a:prstGeom>
          <a:noFill/>
          <a:ln/>
        </p:spPr>
        <p:txBody>
          <a:bodyPr wrap="square" lIns="139700" tIns="139700" rIns="139700" bIns="13970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passagem congela as pendências. Recalculada depois, a lista mostraria a pendência já resolvida pelo turno seguinte — e viraria uma página em branco.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boletim — o diferencial da entrega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internação é o momento de maior angústia de quem deixou o animal na clínica, e hoje essa pessoa liga quatro vezes por dia.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755648"/>
            <a:ext cx="3539642" cy="1234440"/>
          </a:xfrm>
          <a:prstGeom prst="roundRect">
            <a:avLst>
              <a:gd name="adj" fmla="val 5185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texto é montado pelo sistema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Estado, o que foi observado, doses do turno, temperatura. E congelado no envio.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26026" y="1755648"/>
            <a:ext cx="3539642" cy="1234440"/>
          </a:xfrm>
          <a:prstGeom prst="roundRect">
            <a:avLst>
              <a:gd name="adj" fmla="val 5185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Frequência de 1 h a 24 h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 o custo em mensagens por dia à vista antes de confirmar. Foto opcional.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85125" y="1755648"/>
            <a:ext cx="3539642" cy="1234440"/>
          </a:xfrm>
          <a:prstGeom prst="roundRect">
            <a:avLst>
              <a:gd name="adj" fmla="val 5185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silêncio noturno junta, não pula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boletim das 3 da manhã sai às 7h. Pular deixaria nove horas sem notícia.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3447288"/>
            <a:ext cx="11057839" cy="1874520"/>
          </a:xfrm>
          <a:prstGeom prst="roundRect">
            <a:avLst>
              <a:gd name="adj" fmla="val 3902"/>
            </a:avLst>
          </a:prstGeom>
          <a:solidFill>
            <a:srgbClr val="FBEEE8"/>
          </a:solidFill>
          <a:ln w="12700">
            <a:solidFill>
              <a:srgbClr val="EBCFC6"/>
            </a:solidFill>
          </a:ln>
        </p:spPr>
        <p:txBody>
          <a:bodyPr wrap="square" lIns="203200" tIns="203200" rIns="203200" bIns="2032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60" kern="0" dirty="0">
                <a:solidFill>
                  <a:srgbClr val="A250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REGRA QUE DÁ NOME AO MÓDULO</a:t>
            </a:r>
            <a:endParaRPr lang="en-US" sz="10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Piora não sai por aplicativo.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Quando o quadro piora, o boletim nasce retido e não sai até alguém registrar a ligação. Ler no celular, sozinho, que o animal piorou transforma o diferencial na pior lembrança que a pessoa tem da clínica. A trava vive no servidor: nenhuma tela nova, nem uma integração futura, a contorna.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5559552"/>
            <a:ext cx="11057839" cy="713232"/>
          </a:xfrm>
          <a:prstGeom prst="rect">
            <a:avLst/>
          </a:prstGeom>
          <a:solidFill>
            <a:srgbClr val="FBF3E2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5559552"/>
            <a:ext cx="50292" cy="713232"/>
          </a:xfrm>
          <a:prstGeom prst="rect">
            <a:avLst/>
          </a:prstGeom>
          <a:solidFill>
            <a:srgbClr val="8A6D1F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" y="5559552"/>
            <a:ext cx="11007547" cy="713232"/>
          </a:xfrm>
          <a:prstGeom prst="rect">
            <a:avLst/>
          </a:prstGeom>
          <a:noFill/>
          <a:ln/>
        </p:spPr>
        <p:txBody>
          <a:bodyPr wrap="square" lIns="139700" tIns="139700" rIns="139700" bIns="13970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Seguir crítico não cobra ligação nova a cada boletim — só a piora cobra. Exigi-la de hora em hora faria a clínica desligar os boletins de quem mais precisa deles.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alta hospitalar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ciclo começava e não terminava: o animal entrava no mapa de leitos e não tinha por onde sair.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11057839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6668719"/>
              </a:tblGrid>
              <a:tr h="7120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Desfecho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6A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que o responsável recebe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6A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 quê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6A60"/>
                    </a:solidFill>
                  </a:tcPr>
                </a:tc>
              </a:tr>
              <a:tr h="7120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Alta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Mensagem no aplicativo: o pet foi para casa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Fecha a conversa que os boletins abriram. Sem ela, a última coisa lida continua sendo o boletim das 14h.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20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Transferido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Nada. Comunica-se por telefone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animal saiu vivo e o caso continua em outro lugar. Somar à alta leria como sucesso um encaminhamento às três da manhã.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7120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Óbito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Nada. Comunica-se por telefone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Quem recebe por notificação a notícia de que o animal morreu não volta a essa clínica — mesmo que tudo antes tenha sido impecável.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5061204"/>
            <a:ext cx="2599868" cy="1211580"/>
          </a:xfrm>
          <a:prstGeom prst="roundRect">
            <a:avLst>
              <a:gd name="adj" fmla="val 5283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sistema recusa os dois graves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a ligação registrada, o encerramento não sai. A regra mora no servidor.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86252" y="5061204"/>
            <a:ext cx="2599868" cy="1211580"/>
          </a:xfrm>
          <a:prstGeom prst="roundRect">
            <a:avLst>
              <a:gd name="adj" fmla="val 5283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Conferência antes de confirmar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Permanência, doses dadas, recusadas e puladas, boletins entregues.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05576" y="5061204"/>
            <a:ext cx="2599868" cy="1211580"/>
          </a:xfrm>
          <a:prstGeom prst="roundRect">
            <a:avLst>
              <a:gd name="adj" fmla="val 5283"/>
            </a:avLst>
          </a:prstGeom>
          <a:solidFill>
            <a:srgbClr val="FBF3E2"/>
          </a:solidFill>
          <a:ln w="12700">
            <a:solidFill>
              <a:srgbClr val="E6D4A8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Avisos, e nunca travas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Travar faria o animal sair pela porta com o sistema dizendo que ele está no leito R3.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024899" y="5061204"/>
            <a:ext cx="2599868" cy="1211580"/>
          </a:xfrm>
          <a:prstGeom prst="roundRect">
            <a:avLst>
              <a:gd name="adj" fmla="val 5283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Orientação obrigatória nos três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óbito e na transferência, é o registro do que foi dito ao telefone.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C443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D6E9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51560" y="2706624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isto foi construído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51560" y="3584448"/>
            <a:ext cx="1371600" cy="32004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78561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E9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decisões que se repetem em toda tela, e o estado real da entrega.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PRINCÍPIOS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Seis regras que atravessam o módulo inteiro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são estilo. Cada uma existe porque a alternativa produz um dano concreto na operação.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755648"/>
            <a:ext cx="3539642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 nunca vem sozinha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par mínimo é símbolo mais palavra; a cor é a terceira camada. Há um interruptor de escala de cinza no módulo para provar isso.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26026" y="1755648"/>
            <a:ext cx="3539642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Nada bloqueia; tudo avisa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 que proíbe vira regra contornada no papel. As duas exceções são de segurança, e moram no servidor.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85125" y="1755648"/>
            <a:ext cx="3539642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Estruturado primeiro, livre ao lado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campo novo nasce estruturado; o texto livre convive, nunca substitui. É o que permite score de risco amanhã.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3502152"/>
            <a:ext cx="3539642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é recalculado, nunca guardado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Corrigir o peso não deixa uma leitura antiga marcada como "dentro da faixa". Vale igual para o atraso de uma dose.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26026" y="3502152"/>
            <a:ext cx="3539642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regra que protege mora no servidor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Boletim de piora e encerramento grave. Na tela, bastaria outra tela — ou uma rota de API — para a notícia grave escapar.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85125" y="3502152"/>
            <a:ext cx="3539642" cy="1527048"/>
          </a:xfrm>
          <a:prstGeom prst="roundRect">
            <a:avLst>
              <a:gd name="adj" fmla="val 4192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procedência do dado importa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veio do responsável é distinguível do aferido pelo vet. Peso informado em casa não entra nos sinais vitais.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5559552"/>
            <a:ext cx="11057839" cy="713232"/>
          </a:xfrm>
          <a:prstGeom prst="rect">
            <a:avLst/>
          </a:prstGeom>
          <a:solidFill>
            <a:srgbClr val="EEF4F2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5559552"/>
            <a:ext cx="50292" cy="713232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" y="5559552"/>
            <a:ext cx="11007547" cy="713232"/>
          </a:xfrm>
          <a:prstGeom prst="rect">
            <a:avLst/>
          </a:prstGeom>
          <a:noFill/>
          <a:ln/>
        </p:spPr>
        <p:txBody>
          <a:bodyPr wrap="square" lIns="139700" tIns="139700" rIns="139700" bIns="13970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régua da clínica é deliberadamente mais densa que a do aplicativo do responsável: três níveis de densidade, escolhidos por quem opera. O app é emocional; o sistema da clínica é operacional.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DA ENTREGA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real, e o que ainda é protótipo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lista honesta, para ninguém prometer o que não há.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755648"/>
            <a:ext cx="25998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6E9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37944"/>
            <a:ext cx="25998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770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66928" y="2267712"/>
            <a:ext cx="2599868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testes passando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6252" y="1755648"/>
            <a:ext cx="25998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6E9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6252" y="1837944"/>
            <a:ext cx="25998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6252" y="2267712"/>
            <a:ext cx="2599868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arquivos de teste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05576" y="1755648"/>
            <a:ext cx="25998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6E9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5576" y="1837944"/>
            <a:ext cx="25998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05576" y="2267712"/>
            <a:ext cx="2599868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idiomas sem divergência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24899" y="1755648"/>
            <a:ext cx="25998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D6E9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24899" y="1837944"/>
            <a:ext cx="25998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024899" y="2267712"/>
            <a:ext cx="2599868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erros de tipo ou de build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80944"/>
          <a:ext cx="11057839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65999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que a tela mostra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6A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que ainda não acontece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6A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Todo o módulo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Não há integração com servidor: ele roda sobre dados de demonstração, no formato que a API vai ter. Recarregar recria o mundo.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Enviar receita e boletim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envio é registrado e a conversa aparece na prévia, mas quem entrega a mensagem é o aplicativo — outro projeto.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Assinatura com código verificador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Hoje o código é um resumo simples; na API vira assinatura criptográfica.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Orçamento, plano de saúde, microchip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 orçamento sai sem valores: não há tabela de preços. Plano e microchip não existem no cadastro.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Lentidão e falha de rede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F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São simuladas de propósito. Há um painel de demonstração para ajustá-las e para saltar aos casos difíceis.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14300" marR="114300" marT="101600" marB="101600" anchor="ctr">
                    <a:lnL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 ·  Módulo clínico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SEGUIR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recomendo construir em seguida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152144"/>
            <a:ext cx="11057839" cy="12802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43584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1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ordem de custo para a operação real, não de esforço de desenvolvimento.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755648"/>
            <a:ext cx="2599868" cy="1728216"/>
          </a:xfrm>
          <a:prstGeom prst="roundRect">
            <a:avLst>
              <a:gd name="adj" fmla="val 3704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PRIORIDADE 1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Consentimento na agenda, na cirurgia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 é assinado antes do procedimento, e hoje só existe para reimpressão no fim.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6252" y="1755648"/>
            <a:ext cx="2599868" cy="1728216"/>
          </a:xfrm>
          <a:prstGeom prst="roundRect">
            <a:avLst>
              <a:gd name="adj" fmla="val 3704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PRIORIDADE 2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 de alta imprimível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alta já registra a orientação; falta o papel que vai junto com o animal.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05576" y="1755648"/>
            <a:ext cx="2599868" cy="1728216"/>
          </a:xfrm>
          <a:prstGeom prst="roundRect">
            <a:avLst>
              <a:gd name="adj" fmla="val 3704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PRIORIDADE 3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Alerta de medicação contínua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Cruzado com o bulário, como já se faz com alergia.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024899" y="1755648"/>
            <a:ext cx="2599868" cy="1728216"/>
          </a:xfrm>
          <a:prstGeom prst="roundRect">
            <a:avLst>
              <a:gd name="adj" fmla="val 3704"/>
            </a:avLst>
          </a:prstGeom>
          <a:solidFill>
            <a:srgbClr val="EEF4F2"/>
          </a:solidFill>
          <a:ln w="12700">
            <a:solidFill>
              <a:srgbClr val="D6E9E2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10" kern="0" dirty="0">
                <a:solidFill>
                  <a:srgbClr val="8A9A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PRIORIDADE 4</a:t>
            </a:r>
            <a:endParaRPr lang="en-US" sz="10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56A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internação na linha do tempo</a:t>
            </a:r>
            <a:endParaRPr lang="en-US" sz="10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 desfecho e permanência. Hoje o tratamento some quando o animal vai para casa.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3941064"/>
            <a:ext cx="11057839" cy="1609344"/>
          </a:xfrm>
          <a:prstGeom prst="roundRect">
            <a:avLst>
              <a:gd name="adj" fmla="val 4545"/>
            </a:avLst>
          </a:prstGeom>
          <a:solidFill>
            <a:srgbClr val="FBF3E2"/>
          </a:solidFill>
          <a:ln w="12700">
            <a:solidFill>
              <a:srgbClr val="E6D4A8"/>
            </a:solidFill>
          </a:ln>
        </p:spPr>
        <p:txBody>
          <a:bodyPr wrap="square" lIns="203200" tIns="203200" rIns="203200" bIns="20320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50" b="1" spc="160" kern="0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PEDIDO, ANTES DE CONSIDERAR O MENU RESOLVIDO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F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Agora, Em curso, Pendências e Análise são as quatro perguntas que nós achamos que a clínica faz. Vinte minutos com alguém que opera clínica de verdade valem mais que qualquer teste automatizado.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8A6D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a única verificação desta entrega que nenhum código consegue fazer.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6127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A9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56A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C443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2011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D6E9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UMA FRASE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51560" y="2377440"/>
            <a:ext cx="9509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clínica passa a ter um lugar só para o dia inteiro — e quem deixou o animal lá deixa de ligar quatro vezes por dia.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051560" y="4114800"/>
            <a:ext cx="1371600" cy="36576"/>
          </a:xfrm>
          <a:prstGeom prst="rect">
            <a:avLst/>
          </a:prstGeom>
          <a:solidFill>
            <a:srgbClr val="D6E9E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33425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9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 · Fila · Prontuário · Receituário · Documentos · Vacinas · Internação · Alta hospitalar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4846320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E9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PetJourney · Portal do parceiro · Setembro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PetJourney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Clínico — Fluxo completo</dc:title>
  <dc:subject>Módulo clínico — fluxo completo</dc:subject>
  <dc:creator>PetJourney</dc:creator>
  <cp:lastModifiedBy>PetJourney</cp:lastModifiedBy>
  <cp:revision>1</cp:revision>
  <dcterms:created xsi:type="dcterms:W3CDTF">2026-09-15T20:35:08Z</dcterms:created>
  <dcterms:modified xsi:type="dcterms:W3CDTF">2026-09-15T20:35:08Z</dcterms:modified>
</cp:coreProperties>
</file>